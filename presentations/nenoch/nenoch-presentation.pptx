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Начало: 'Представьте мир, в котором почти никогда не бывает темно. А теперь представьте школу, где темнотой убивают.'
Это «Неночь» Джея Кристоффа, 2016 год, тёмное фэнтези для взрослых. Первая книга трилогии.
Сразу договоримся: спойлеров не будет — я расскажу про мир, героев и стиль, а финал оставлю вам.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Одной фразой: это история мести, упакованная в жанр «школа убийц».
Ключевая деталь мира вынесена в название: неночь — состояние, когда настоящей ночи почти не бывает.
Мия идёт в Красную Церковь ради конкретной цели, а не ради приключений. Это не сказка о взрослении — это про цену.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Кристофф — австралиец, пишет много и в разных жанрах.
Важно: он не «милый» автор. Если ждёте уютное фэнтези — это не сюда.
Если читали «Иллюминае» — там он экспериментировал с формой подачи. В «Неночи» эксперимент другой: сноски.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придумка мира вынесена в заголовок книги.
Три солнца — значит темнота дефицит. Для убийцы, который работает тенями, это не декорация, а рабочая проблема.
Истинная тьма — редкое событие, к нему в книге привязана и религия, и календарь, и сюжет.
Итрея — это очень узнаваемый Древний Рим: сенат, консул, интриги. Кристофф этого и не скрывает.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шага — и мы у входа в основной сюжет.
Обратите внимание: месть здесь не спонтанная вспышка. Мия шла к ней десять лет.
Меркурио — важная фигура: циничный старик, который заменил ей отца, но никогда не притворялся добрым.
Всё, что дальше — испытания в Церкви и финал — оставляю вам. Скажу только: книга не жалеет никого.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Красная Церковь — не метафора, а действующий культ со своей школой.
Четыре дисциплины — это по сути четыре способа решить одну задачу. Ученики проходят все.
Важный момент атмосферы: это не Хогвартс. Конкуренция здесь буквально смертельная, и книга напоминает об этом регулярно.
Если аудитория спросит про имена наставников — их четверо, у каждого своя специализация и очень разный характер.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Мия — не «сильная женская героиня» из шаблона. Она мстительная, часто неправа и делает жестокие вещи.
Даркин — редкий дар управлять тенями. В мире трёх солнц это одновременно суперсила и клеймо.
Ключ к персонажу — четвёртый пункт: сила у неё не бесплатная. Как именно она платит — узнаете сами.
Именно поэтому книга взрослая: героине не выдают моральных индульгенций.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Мистер Добряк — визитная карточка книги. Многие читатели приходят за Мией, а остаются за котом.
Механика простая и умная: он ест её страх. Значит, героиня объективно бесстрашна — но не потому, что смелая.
И это ровно тот случай, когда приятная деталь оказывается частью большой темы: за всё платят.
Если хотите одну причину прочитать книгу — вот она сидит на плече у героини.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фигуры, которые держат книгу вокруг Мии.
Меркурио — прошлое. Он дал ей инструменты и заодно объяснил, что мир никому ничего не должен.
Трик и Эшлин — настоящее: соученики, то есть одновременно друзья и конкуренты. В школе, где мест мало, это неудобная комбинация.
Про их линии подробно не рассказываю — там как раз лежит половина сюрпризов книги.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снять с книги жанровую упаковку, останется разговор о цене.
Месть — центральная тема, и Кристофф последовательно показывает, что она стоит дорого.
Политический слой — это фактически Рим: сенат, консул, борьба кланов.
И главное — отказ от простой морали. Тени в этой книге не «плохие», а свет далеко не спасение.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здесь книга делит читателей пополам.
Сноски: у Кристоффа внизу страницы живёт отдельный голос — он объясняет мир и постоянно язвит. Одних это влюбляет, других выбешивает, потому что рвёт темп чтения. Пример справа — это моя иллюстрация приёма, а не цитата.
Две временные линии: прошлое Мии подаётся вставками, поэтому первые сто страниц идут медленно.
Честное предупреждение слушателям: если не зашли первые две главы — дайте книге ещё сто страниц, дальше темп резко растёт.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Книга не единогласно хорошая — и это нормально.
Главная объективная награда: Aurealis Award 2016 за лучший фэнтези-роман. Плюс номинации Gemmell и немецкая премия за перевод.
Оценки читателей высокие, но разброс большой: люди либо влюбляются, либо бросают на первой сотне страниц.
Пометка 18+ не для красоты: в книге есть и жестокость, и откровенные сцены. Это стоит сказать вслух перед тем, как советовать книгу кому-то.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Резюме: книга не для всех, и это её сильная сторона — она точно знает, для кого написана.
Если человек любит тёмное фэнтези и не ждёт удобной морали — заходит отлично.
Трилогия закончена: три книги, все переведены на русский. Начинать нужно строго с «Неночи».
Финальная фраза — это моя формулировка того, чем книга отличается от жанровых соседей. На ней и заканчиваем: вопросы?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234440"/>
            <a:ext cx="3200400" cy="3200400"/>
          </a:xfrm>
          <a:prstGeom prst="ellipse">
            <a:avLst/>
          </a:prstGeom>
          <a:solidFill>
            <a:srgbClr val="120E1A"/>
          </a:solidFill>
          <a:ln w="12700">
            <a:solidFill>
              <a:srgbClr val="241D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2057400"/>
            <a:ext cx="1554480" cy="1554480"/>
          </a:xfrm>
          <a:prstGeom prst="ellipse">
            <a:avLst/>
          </a:prstGeom>
          <a:solidFill>
            <a:srgbClr val="1B1424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10928" y="2578608"/>
            <a:ext cx="512064" cy="512064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8796528" y="1664208"/>
            <a:ext cx="182880" cy="182880"/>
          </a:xfrm>
          <a:prstGeom prst="ellipse">
            <a:avLst/>
          </a:prstGeom>
          <a:solidFill>
            <a:srgbClr val="D8484B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3703320"/>
            <a:ext cx="118872" cy="118872"/>
          </a:xfrm>
          <a:prstGeom prst="ellipse">
            <a:avLst/>
          </a:prstGeom>
          <a:solidFill>
            <a:srgbClr val="9891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ТЁМНОЕ ФЭНТЕЗИ · 2016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spc="200" kern="0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НЕНОЧЬ</a:t>
            </a:r>
            <a:endParaRPr lang="en-US" sz="9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D84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V E R N I G H 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86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Джей Кристофф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389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книга «Хроник Неночи»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Русское издание — АСТ, перевод А. Харченко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3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без спойлеров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ЭТО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3444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Мир, где ночь наступает раз в два с половиной года.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школа, где из этой темноты делают оружие.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Шестнадцатилетняя Мия Корвере приходит в Красную Церковь — школу убийц — не за знаниями. Её отца казнили за проигранное восстание, семью уничтожили. Она хочет отомстить и готова заплатить за это чем угодно.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18120" y="1188720"/>
            <a:ext cx="3730752" cy="4297680"/>
          </a:xfrm>
          <a:prstGeom prst="roundRect">
            <a:avLst>
              <a:gd name="adj" fmla="val 1471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11896" y="1691640"/>
            <a:ext cx="914400" cy="91440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929384"/>
            <a:ext cx="438912" cy="43891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8388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Формула книги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32918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убийц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мир трёх солнц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месть без иллюзий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рассказчик в сносках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Джей Кристофф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212080" cy="3977640"/>
          </a:xfrm>
          <a:prstGeom prst="roundRect">
            <a:avLst>
              <a:gd name="adj" fmla="val 1379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011680"/>
            <a:ext cx="822960" cy="82296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530" y="2225650"/>
            <a:ext cx="395021" cy="39502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51560" y="3063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это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474720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Австралийский писатель из Мельбурна. Тёмное фэнтези и научная фантастика для взрослых.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Фирменный почерк: жестокость без романтизации, чёрный юмор и плотный, ритмичный язык.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1600200"/>
            <a:ext cx="5285232" cy="1170432"/>
          </a:xfrm>
          <a:prstGeom prst="roundRect">
            <a:avLst>
              <a:gd name="adj" fmla="val 4688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18013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«Танцующая с бурей»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Stormdancer, 2012 — японское стимпанк-фэнтези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3003804"/>
            <a:ext cx="5285232" cy="1170432"/>
          </a:xfrm>
          <a:prstGeom prst="roundRect">
            <a:avLst>
              <a:gd name="adj" fmla="val 4688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32049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«Иллюминае»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35981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Illuminae, 2015 — космическая НФ в соавторстве с Эми Кауфман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63640" y="4407408"/>
            <a:ext cx="5285232" cy="1170432"/>
          </a:xfrm>
          <a:prstGeom prst="roundRect">
            <a:avLst>
              <a:gd name="adj" fmla="val 4688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0" y="46085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«Империя вампиров»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5001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of the Vampire, 2021 — тёмное фэнтези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Итрея: мир трёх солнц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246120" cy="3931920"/>
          </a:xfrm>
          <a:prstGeom prst="roundRect">
            <a:avLst>
              <a:gd name="adj" fmla="val 1690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057400"/>
            <a:ext cx="1371600" cy="137160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2514600"/>
            <a:ext cx="685800" cy="68580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3246120"/>
            <a:ext cx="384048" cy="384048"/>
          </a:xfrm>
          <a:prstGeom prst="ellipse">
            <a:avLst/>
          </a:prstGeom>
          <a:solidFill>
            <a:srgbClr val="D848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светила на небе.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темнота — событие,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время суток.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0" y="1645920"/>
            <a:ext cx="7342632" cy="1261872"/>
          </a:xfrm>
          <a:prstGeom prst="roundRect">
            <a:avLst>
              <a:gd name="adj" fmla="val 4348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18105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Неночь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19456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весь год над Итреей висит хотя бы одно солнце. Тени коротки, спрятаться негде, а «ночь» — понятие условное.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3017520"/>
            <a:ext cx="7342632" cy="1261872"/>
          </a:xfrm>
          <a:prstGeom prst="roundRect">
            <a:avLst>
              <a:gd name="adj" fmla="val 4348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1821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Истинная тьма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56616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Примерно раз в два с половиной года все три солнца гаснут разом. Настоящая ночь возвращается — и вместе с ней возвращается то, что живёт в тени.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06240" y="4389120"/>
            <a:ext cx="7342632" cy="1261872"/>
          </a:xfrm>
          <a:prstGeom prst="roundRect">
            <a:avLst>
              <a:gd name="adj" fmla="val 4348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45537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Республика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93776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Сенат, консул, кланы, долги и кровная вражда. Политика здесь убивает не реже клинка — и куда изящнее.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ЗАВЯЗКА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чего всё начинается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9464040" y="749808"/>
            <a:ext cx="2084832" cy="384048"/>
          </a:xfrm>
          <a:prstGeom prst="roundRect">
            <a:avLst>
              <a:gd name="adj" fmla="val 19048"/>
            </a:avLst>
          </a:prstGeom>
          <a:solidFill>
            <a:srgbClr val="1E1218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64040" y="74980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84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СПОЙЛЕРОВ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3456432" cy="3566160"/>
          </a:xfrm>
          <a:prstGeom prst="roundRect">
            <a:avLst>
              <a:gd name="adj" fmla="val 1587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A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7432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Казнь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493008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Отец Мии возглавил восстание, проиграл и был публично казнён. Семью уничтожили. Девочке было шесть.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66260" y="1737360"/>
            <a:ext cx="3456432" cy="3566160"/>
          </a:xfrm>
          <a:prstGeom prst="roundRect">
            <a:avLst>
              <a:gd name="adj" fmla="val 1587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202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A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4732020" y="27432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лет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4732020" y="3493008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прячет и растит Меркурио — старый отравитель с лавкой и тяжёлым характером. Он учит её клинку, яду и главному: терпению.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92440" y="1737360"/>
            <a:ext cx="3456432" cy="3566160"/>
          </a:xfrm>
          <a:prstGeom prst="roundRect">
            <a:avLst>
              <a:gd name="adj" fmla="val 1587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5820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A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2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27432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Красная Церковь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3493008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Мия поступает в школу убийц, чтобы получить право на месть. Испытание длиной в год. Клинками станут единицы.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начинается собственно книга — и вот об этом я молчу.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КРАСНАЯ ЦЕРКОВЬ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дисциплины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5285232" cy="1627632"/>
          </a:xfrm>
          <a:prstGeom prst="roundRect">
            <a:avLst>
              <a:gd name="adj" fmla="val 3371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975104"/>
            <a:ext cx="960120" cy="96012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751" y="2224735"/>
            <a:ext cx="460858" cy="46085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121408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Сталь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2121408" y="24414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Бой и оружие. Как убить, если дошло до прямого столкновения.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63640" y="1645920"/>
            <a:ext cx="5285232" cy="1627632"/>
          </a:xfrm>
          <a:prstGeom prst="roundRect">
            <a:avLst>
              <a:gd name="adj" fmla="val 3371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1975104"/>
            <a:ext cx="960120" cy="96012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311" y="2224735"/>
            <a:ext cx="460858" cy="46085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744968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Яды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7744968" y="24414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Химия, травы, дозировки. Как убить так, чтобы это выглядело болезнью.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40080" y="3401568"/>
            <a:ext cx="5285232" cy="1627632"/>
          </a:xfrm>
          <a:prstGeom prst="roundRect">
            <a:avLst>
              <a:gd name="adj" fmla="val 3371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60120" y="3730752"/>
            <a:ext cx="960120" cy="96012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751" y="3980383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121408" y="3721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Маски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2121408" y="419709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Обман, роли, обольщение. Как подойти к цели вплотную и остаться никем.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263640" y="3401568"/>
            <a:ext cx="5285232" cy="1627632"/>
          </a:xfrm>
          <a:prstGeom prst="roundRect">
            <a:avLst>
              <a:gd name="adj" fmla="val 3371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83680" y="3730752"/>
            <a:ext cx="960120" cy="96012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311" y="3980383"/>
            <a:ext cx="460858" cy="46085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744968" y="3721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Карманы</a:t>
            </a:r>
            <a:endParaRPr lang="en-US" sz="2100" dirty="0"/>
          </a:p>
        </p:txBody>
      </p:sp>
      <p:sp>
        <p:nvSpPr>
          <p:cNvPr id="27" name="Text 21"/>
          <p:cNvSpPr txBox="1"/>
          <p:nvPr/>
        </p:nvSpPr>
        <p:spPr>
          <a:xfrm>
            <a:off x="7744968" y="419709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Воровство и скрытность. Как войти туда, куда нельзя, и выйти живым.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5285232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каждой дисциплины свой наставник. Над всеми — Преподобная Матерь Друзилла. Учеников много, мест мало, а отчисление здесь редко бывает мирным.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ГЕРОИНЯ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Мия Корвере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931920" cy="3931920"/>
          </a:xfrm>
          <a:prstGeom prst="roundRect">
            <a:avLst>
              <a:gd name="adj" fmla="val 1395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057400"/>
            <a:ext cx="1645920" cy="1645920"/>
          </a:xfrm>
          <a:prstGeom prst="ellipse">
            <a:avLst/>
          </a:prstGeom>
          <a:solidFill>
            <a:srgbClr val="221B2E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1019" y="2485339"/>
            <a:ext cx="790042" cy="79004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0584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МИЯ КОРВЕРЕ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4389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лет. Аколит Красной Церкви.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Повелевает тенями.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92040" y="1645920"/>
            <a:ext cx="6656832" cy="914400"/>
          </a:xfrm>
          <a:prstGeom prst="roundRect">
            <a:avLst>
              <a:gd name="adj" fmla="val 6000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1208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Даркин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79222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Тени слушаются её: гасят свет, глушат звук, прячут. Это врождённое, и это ненормально даже по меркам Итреи.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92040" y="2651760"/>
            <a:ext cx="6656832" cy="914400"/>
          </a:xfrm>
          <a:prstGeom prst="roundRect">
            <a:avLst>
              <a:gd name="adj" fmla="val 6000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12080" y="2788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Мотив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279806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Месть людям, которые стояли за казнью её отца. Не абстрактное зло — конкретные имена и лица.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92040" y="3657600"/>
            <a:ext cx="6656832" cy="914400"/>
          </a:xfrm>
          <a:prstGeom prst="roundRect">
            <a:avLst>
              <a:gd name="adj" fmla="val 6000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12080" y="3794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Характер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380390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Умная, злая, упрямая. Не «хорошая девочка» и не собирается ею становиться — книга не пытается её оправдать.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92040" y="4663440"/>
            <a:ext cx="6656832" cy="914400"/>
          </a:xfrm>
          <a:prstGeom prst="roundRect">
            <a:avLst>
              <a:gd name="adj" fmla="val 6000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212080" y="4800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0" y="480974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силу она платит. Не деньгами и не кровью врагов — тем, что теряет по дороге.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Мистер Добряк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858000" y="1645920"/>
            <a:ext cx="4690872" cy="3931920"/>
          </a:xfrm>
          <a:prstGeom prst="roundRect">
            <a:avLst>
              <a:gd name="adj" fmla="val 1395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2011680"/>
            <a:ext cx="2103120" cy="2103120"/>
          </a:xfrm>
          <a:prstGeom prst="ellipse">
            <a:avLst/>
          </a:prstGeom>
          <a:solidFill>
            <a:srgbClr val="221B2E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4971" y="2558491"/>
            <a:ext cx="1009498" cy="100949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178040" y="4343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MISTER KINDLY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4754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Кот, которого нет.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691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D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Тень в форме кота. Разговаривает. Язвит. Комментирует всё, что делает Мия, — и почти всегда неудобно.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40080" y="2743200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2688" y="288950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Ест страх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2971800" y="2889504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Буквально. Рядом с ним Мии не страшно — а страх в этой школе убивает первым.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3776472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" y="392277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 со стороны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971800" y="392277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спорит, ехидничает и говорит вслух то, что Мия предпочла бы не думать.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4809744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2688" y="495604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Напоминание о цене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2971800" y="495604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даётся даром. Он забирает страх — и вместе с ним кое-что ещё.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ОКРУЖЕНИЕ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рядом с ней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456432" cy="3611880"/>
          </a:xfrm>
          <a:prstGeom prst="roundRect">
            <a:avLst>
              <a:gd name="adj" fmla="val 1587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965960"/>
            <a:ext cx="868680" cy="86868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Меркурио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300" kern="0" dirty="0">
                <a:solidFill>
                  <a:srgbClr val="D84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НАСТАВНИК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7947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 отравитель с лавкой диковин. Спрятал Мию после казни отца и вырастил из неё оружие. Ворчлив, циничен, предан — в таком порядке.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66260" y="1645920"/>
            <a:ext cx="3456432" cy="3611880"/>
          </a:xfrm>
          <a:prstGeom prst="roundRect">
            <a:avLst>
              <a:gd name="adj" fmla="val 1587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965960"/>
            <a:ext cx="868680" cy="86868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202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7320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Трик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73202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300" kern="0" dirty="0">
                <a:solidFill>
                  <a:srgbClr val="D84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АКОЛИТ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32020" y="37947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Полукровка-двеймери с татуировками на лице. Гордый, вспыльчивый, чужой в этой школе примерно так же, как Мия.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2440" y="1645920"/>
            <a:ext cx="3456432" cy="3611880"/>
          </a:xfrm>
          <a:prstGeom prst="roundRect">
            <a:avLst>
              <a:gd name="adj" fmla="val 1587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1965960"/>
            <a:ext cx="868680" cy="86868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5820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Эшлин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300" kern="0" dirty="0">
                <a:solidFill>
                  <a:srgbClr val="D84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АКОЛИТ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379476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Девушка из семьи, где ремесло убийцы передают по наследству. Обаятельная, острая на язык и очень себе на уме.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 чём книга на самом деле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773936"/>
            <a:ext cx="640080" cy="64008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1940357"/>
            <a:ext cx="307238" cy="3072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737360" y="1755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Месть и её цена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1783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Месть здесь не катарсис, а работа. Долгая, грязная и забирающая по кусочку того, кто ею занят.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2697480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" y="2871216"/>
            <a:ext cx="640080" cy="64008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3" y="3037637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737360" y="2852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Власть и политика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212080" y="28803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Республика, сенат, кланы. Насилие показано как продолжение политики другими средствами — и наоборот.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40080" y="3794760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3968496"/>
            <a:ext cx="640080" cy="64008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4134917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737360" y="3950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Взросление через жестокость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39776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сюжет о школе, вывернутый наизнанку: оценка за экзамен здесь — жизнь.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40080" y="4892040"/>
            <a:ext cx="10908792" cy="987552"/>
          </a:xfrm>
          <a:prstGeom prst="roundRect">
            <a:avLst>
              <a:gd name="adj" fmla="val 5556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96112" y="5065776"/>
            <a:ext cx="640080" cy="64008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3" y="5232197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73736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Свет и тьма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50749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Тьма — не зло, свет — не добро. Книга методично ломает эту привычку и не даёт удобных ярлыков.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Приёмы Кристоффа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5623560" cy="2377440"/>
          </a:xfrm>
          <a:prstGeom prst="roundRect">
            <a:avLst>
              <a:gd name="adj" fmla="val 2308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920240"/>
            <a:ext cx="731520" cy="731520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110435"/>
            <a:ext cx="351130" cy="35113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1938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Сноски-рассказчик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7889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Невидимый рассказчик комментирует историю внизу страницы: объясняет устройство мира, шутит, спорит с текстом. Это главная фирменная черта — и самый спорный приём книги.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29400" y="1645920"/>
            <a:ext cx="4919472" cy="2377440"/>
          </a:xfrm>
          <a:prstGeom prst="roundRect">
            <a:avLst>
              <a:gd name="adj" fmla="val 2308"/>
            </a:avLst>
          </a:prstGeom>
          <a:solidFill>
            <a:srgbClr val="120E1A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…тени послушались её.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949440" y="2423160"/>
            <a:ext cx="1463040" cy="0"/>
          </a:xfrm>
          <a:prstGeom prst="line">
            <a:avLst/>
          </a:prstGeom>
          <a:noFill/>
          <a:ln w="12700">
            <a:solidFill>
              <a:srgbClr val="2C243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49440" y="260604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А вот это, дорогой читатель, стоило бы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объяснить подробнее — но объяснять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придётся долго, а вы и так торопитесь.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3611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это выглядит на странице (пример оформления)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4224528"/>
            <a:ext cx="3538728" cy="1600200"/>
          </a:xfrm>
          <a:prstGeom prst="roundRect">
            <a:avLst>
              <a:gd name="adj" fmla="val 3429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4453128"/>
            <a:ext cx="566928" cy="566928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4600529"/>
            <a:ext cx="272125" cy="27212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645920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линии времени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914400" y="5138928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Настоящее в Церкви чередуется с детством Мии — прошлое подаётся дозами.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325112" y="4224528"/>
            <a:ext cx="3538728" cy="1600200"/>
          </a:xfrm>
          <a:prstGeom prst="roundRect">
            <a:avLst>
              <a:gd name="adj" fmla="val 3429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99432" y="4453128"/>
            <a:ext cx="566928" cy="566928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833" y="4600529"/>
            <a:ext cx="272125" cy="27212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330952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Чёрный юмор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4599432" y="5138928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Шутки на фоне трупов. Это тон книги, а не случайные вставки.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010144" y="4224528"/>
            <a:ext cx="3538728" cy="1600200"/>
          </a:xfrm>
          <a:prstGeom prst="roundRect">
            <a:avLst>
              <a:gd name="adj" fmla="val 3429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284464" y="4453128"/>
            <a:ext cx="566928" cy="566928"/>
          </a:xfrm>
          <a:prstGeom prst="ellipse">
            <a:avLst/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1865" y="4600529"/>
            <a:ext cx="272125" cy="27212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015984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Плотный язык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8284464" y="5138928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метафор и ритма. Вход медленный — первые главы придётся перетерпеть.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И КРИТИКА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книгу встретили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2587752" cy="1417320"/>
          </a:xfrm>
          <a:prstGeom prst="roundRect">
            <a:avLst>
              <a:gd name="adj" fmla="val 3871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1907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Aurealis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5915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Премия 2016 года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лучший фэнтези-роман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0712" y="1600200"/>
            <a:ext cx="2587752" cy="1417320"/>
          </a:xfrm>
          <a:prstGeom prst="roundRect">
            <a:avLst>
              <a:gd name="adj" fmla="val 3871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171907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 / 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35915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читателей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LiveLib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600200"/>
            <a:ext cx="2587752" cy="1417320"/>
          </a:xfrm>
          <a:prstGeom prst="roundRect">
            <a:avLst>
              <a:gd name="adj" fmla="val 3871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64224" y="171907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 / 10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235915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читателей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«Фантлабе»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51976" y="1600200"/>
            <a:ext cx="2587752" cy="1417320"/>
          </a:xfrm>
          <a:prstGeom prst="roundRect">
            <a:avLst>
              <a:gd name="adj" fmla="val 3871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34856" y="171907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84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18+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134856" y="235915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Жестокость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откровенные сцены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310128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что хвалят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005072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оригинальный мир трёх солнц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героиня без розовых очков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язык, ритм и атмосфера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чёрный юмор рассказчика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99632" y="3310128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9672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84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что ругают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4005072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медленный старт: первые главы вязкие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сноски рвут темп чтения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жестокость и откровенные сцены не для всех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терминов на входе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669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Также: номинация на David Gemmell Legend Award (2017) и на Deutscher Phantastik Preis (2018, лучший переводной роман).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0232" y="374904"/>
            <a:ext cx="91440" cy="91440"/>
          </a:xfrm>
          <a:prstGeom prst="ellipse">
            <a:avLst/>
          </a:prstGeom>
          <a:solidFill>
            <a:srgbClr val="A4161A"/>
          </a:solidFill>
          <a:ln/>
        </p:spPr>
      </p:sp>
      <p:sp>
        <p:nvSpPr>
          <p:cNvPr id="3" name="Shape 1"/>
          <p:cNvSpPr/>
          <p:nvPr/>
        </p:nvSpPr>
        <p:spPr>
          <a:xfrm>
            <a:off x="11183112" y="356616"/>
            <a:ext cx="128016" cy="128016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11402568" y="384048"/>
            <a:ext cx="73152" cy="73152"/>
          </a:xfrm>
          <a:prstGeom prst="ellipse">
            <a:avLst/>
          </a:prstGeom>
          <a:solidFill>
            <a:srgbClr val="6E68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34472" y="623620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Читать или нет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1801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Стоит читать, если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2860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любите тёмное фэнтези без утешений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нравятся антигероини и мораль в серых тонах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цените необычную форму подачи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99632" y="160020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16121E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1801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84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Лучше пройти мимо, если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2860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переносите жестокость и сцены 18+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быстрый старт с первой страницы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раздражают сноски и авторские приёмы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ТРИЛОГИЯ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462272"/>
            <a:ext cx="3108960" cy="932688"/>
          </a:xfrm>
          <a:prstGeom prst="roundRect">
            <a:avLst>
              <a:gd name="adj" fmla="val 5882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Неночь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956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462272"/>
            <a:ext cx="777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26280" y="4462272"/>
            <a:ext cx="3108960" cy="932688"/>
          </a:xfrm>
          <a:prstGeom prst="roundRect">
            <a:avLst>
              <a:gd name="adj" fmla="val 5882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Годсгрейв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956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4462272"/>
            <a:ext cx="777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412480" y="4462272"/>
            <a:ext cx="3108960" cy="932688"/>
          </a:xfrm>
          <a:prstGeom prst="roundRect">
            <a:avLst>
              <a:gd name="adj" fmla="val 5882"/>
            </a:avLst>
          </a:prstGeom>
          <a:solidFill>
            <a:srgbClr val="1C1727"/>
          </a:solidFill>
          <a:ln w="12700">
            <a:solidFill>
              <a:srgbClr val="2C24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3252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Тёмный рассвет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732520" y="4956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715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Темнота здесь не враг. Темнота здесь — инструмент.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Неночь — Джей Кристофф</dc:title>
  <dc:subject>PptxGenJS Presentation</dc:subject>
  <dc:creator>Максим</dc:creator>
  <cp:lastModifiedBy>Максим</cp:lastModifiedBy>
  <cp:revision>1</cp:revision>
  <dcterms:created xsi:type="dcterms:W3CDTF">2026-09-05T00:52:56Z</dcterms:created>
  <dcterms:modified xsi:type="dcterms:W3CDTF">2026-09-05T00:52:56Z</dcterms:modified>
</cp:coreProperties>
</file>